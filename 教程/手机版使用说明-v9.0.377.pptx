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431800"/>
            <a:ext cx="10922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Amadeus 手机端 · v9.0.377 · 安卓 8.0+ / arm64</a:t>
            </a:r>
            <a:endParaRPr lang="en-US" sz="1200" dirty="0"/>
          </a:p>
        </p:txBody>
      </p:sp>
      <p:sp>
        <p:nvSpPr>
          <p:cNvPr id="3" name="rule"/>
          <p:cNvSpPr/>
          <p:nvPr/>
        </p:nvSpPr>
        <p:spPr>
          <a:xfrm>
            <a:off x="609600" y="889000"/>
            <a:ext cx="1778000" cy="254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1879600"/>
            <a:ext cx="109728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十分钟，</a:t>
            </a:r>
            <a:endParaRPr lang="en-US" sz="5800" dirty="0"/>
          </a:p>
          <a:p>
            <a:pPr marL="0" indent="0" algn="l">
              <a:buNone/>
            </a:pPr>
            <a:r>
              <a:rPr lang="en-US" sz="58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让她在手机上说话</a:t>
            </a:r>
            <a:endParaRPr lang="en-US" sz="5800" dirty="0"/>
          </a:p>
        </p:txBody>
      </p:sp>
      <p:sp>
        <p:nvSpPr>
          <p:cNvPr id="5" name="subtitle"/>
          <p:cNvSpPr/>
          <p:nvPr/>
        </p:nvSpPr>
        <p:spPr>
          <a:xfrm>
            <a:off x="609600" y="4318000"/>
            <a:ext cx="8890000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装包、填两把钥匙、允许麦克风——她就能聊天、记事、出声。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想让她帮你点屏幕，再多开一个无障碍开关。</a:t>
            </a:r>
            <a:endParaRPr lang="en-US" sz="1800" dirty="0"/>
          </a:p>
        </p:txBody>
      </p:sp>
      <p:sp>
        <p:nvSpPr>
          <p:cNvPr id="6" name="foot"/>
          <p:cNvSpPr/>
          <p:nvPr/>
        </p:nvSpPr>
        <p:spPr>
          <a:xfrm>
            <a:off x="609600" y="5918200"/>
            <a:ext cx="9906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050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交流群 QQ 1130679223 · 安装包只在群文件里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050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本页不含任何安装包与密钥</a:t>
            </a:r>
            <a:endParaRPr lang="en-US" sz="1300" dirty="0"/>
          </a:p>
        </p:txBody>
      </p:sp>
      <p:sp>
        <p:nvSpPr>
          <p:cNvPr id="7" name="pageno"/>
          <p:cNvSpPr/>
          <p:nvPr/>
        </p:nvSpPr>
        <p:spPr>
          <a:xfrm>
            <a:off x="11049000" y="63881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先准备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先准备两样东西</a:t>
            </a:r>
            <a:endParaRPr lang="en-US" sz="3700" dirty="0"/>
          </a:p>
        </p:txBody>
      </p:sp>
      <p:sp>
        <p:nvSpPr>
          <p:cNvPr id="5" name="divline"/>
          <p:cNvSpPr/>
          <p:nvPr/>
        </p:nvSpPr>
        <p:spPr>
          <a:xfrm>
            <a:off x="6070600" y="1930400"/>
            <a:ext cx="12700" cy="29464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6" name="h1"/>
          <p:cNvSpPr/>
          <p:nvPr/>
        </p:nvSpPr>
        <p:spPr>
          <a:xfrm>
            <a:off x="609600" y="18796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一部安卓手机</a:t>
            </a:r>
            <a:endParaRPr lang="en-US" sz="1300" dirty="0"/>
          </a:p>
        </p:txBody>
      </p:sp>
      <p:sp>
        <p:nvSpPr>
          <p:cNvPr id="7" name="b1"/>
          <p:cNvSpPr/>
          <p:nvPr/>
        </p:nvSpPr>
        <p:spPr>
          <a:xfrm>
            <a:off x="609600" y="2286000"/>
            <a:ext cx="482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安卓 8.0 以上，必须是 arm64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（2020 年后的机器基本都是）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 897MB，装完占约 0.9GB；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第一次让她动手机，再解 1.1GB 运行时。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 3GB 空闲比较稳。</a:t>
            </a:r>
            <a:endParaRPr lang="en-US" sz="1500" dirty="0"/>
          </a:p>
        </p:txBody>
      </p:sp>
      <p:sp>
        <p:nvSpPr>
          <p:cNvPr id="8" name="h2"/>
          <p:cNvSpPr/>
          <p:nvPr/>
        </p:nvSpPr>
        <p:spPr>
          <a:xfrm>
            <a:off x="6451600" y="18796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两把钥匙</a:t>
            </a:r>
            <a:endParaRPr lang="en-US" sz="1300" dirty="0"/>
          </a:p>
        </p:txBody>
      </p:sp>
      <p:sp>
        <p:nvSpPr>
          <p:cNvPr id="9" name="b2"/>
          <p:cNvSpPr/>
          <p:nvPr/>
        </p:nvSpPr>
        <p:spPr>
          <a:xfrm>
            <a:off x="6451600" y="2286000"/>
            <a:ext cx="482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大模型钥匙（必须）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决定她用哪个脑子。去 DeepSeek 的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platform.deepseek.com 建一把，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复制整串 sk-…。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语音钥匙（想要声音才要）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Fish Audio（fish.audio）注册后建一把，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或阿里云百炼的 CosyVoice 钥匙。</a:t>
            </a:r>
            <a:endParaRPr lang="en-US" sz="1500" dirty="0"/>
          </a:p>
        </p:txBody>
      </p:sp>
      <p:sp>
        <p:nvSpPr>
          <p:cNvPr id="10" name="warnbg"/>
          <p:cNvSpPr/>
          <p:nvPr/>
        </p:nvSpPr>
        <p:spPr>
          <a:xfrm>
            <a:off x="609600" y="5207000"/>
            <a:ext cx="10972800" cy="939800"/>
          </a:xfrm>
          <a:prstGeom prst="rect">
            <a:avLst/>
          </a:prstGeom>
          <a:solidFill>
            <a:srgbClr val="1A1A18"/>
          </a:solidFill>
          <a:ln w="25400">
            <a:solidFill>
              <a:srgbClr val="E85D26"/>
            </a:solidFill>
            <a:prstDash val="solid"/>
          </a:ln>
        </p:spPr>
      </p:sp>
      <p:sp>
        <p:nvSpPr>
          <p:cNvPr id="11" name="warntitle"/>
          <p:cNvSpPr/>
          <p:nvPr/>
        </p:nvSpPr>
        <p:spPr>
          <a:xfrm>
            <a:off x="863600" y="53848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别把钥匙发群里</a:t>
            </a:r>
            <a:endParaRPr lang="en-US" sz="1400" dirty="0"/>
          </a:p>
        </p:txBody>
      </p:sp>
      <p:sp>
        <p:nvSpPr>
          <p:cNvPr id="12" name="warntext"/>
          <p:cNvSpPr/>
          <p:nvPr/>
        </p:nvSpPr>
        <p:spPr>
          <a:xfrm>
            <a:off x="863600" y="5740400"/>
            <a:ext cx="10414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它等同手机号加密码，别人拿到能用你的额度。费用是你自己账号的事，几块钱能用很久。</a:t>
            </a:r>
            <a:endParaRPr lang="en-US" sz="1300" dirty="0"/>
          </a:p>
        </p:txBody>
      </p:sp>
      <p:sp>
        <p:nvSpPr>
          <p:cNvPr id="13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装包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把包装上，只要三步</a:t>
            </a:r>
            <a:endParaRPr lang="en-US" sz="3700" dirty="0"/>
          </a:p>
        </p:txBody>
      </p:sp>
      <p:sp>
        <p:nvSpPr>
          <p:cNvPr id="5" name="n1"/>
          <p:cNvSpPr/>
          <p:nvPr>
            <p:custDataLst>
              <p:tags r:id="rId1"/>
            </p:custDataLst>
          </p:nvPr>
        </p:nvSpPr>
        <p:spPr>
          <a:xfrm>
            <a:off x="609600" y="19050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1"/>
          <p:cNvSpPr/>
          <p:nvPr>
            <p:custDataLst>
              <p:tags r:id="rId2"/>
            </p:custDataLst>
          </p:nvPr>
        </p:nvSpPr>
        <p:spPr>
          <a:xfrm>
            <a:off x="1371600" y="1930400"/>
            <a:ext cx="6096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传到手机</a:t>
            </a:r>
            <a:endParaRPr lang="en-US" sz="1700" dirty="0"/>
          </a:p>
        </p:txBody>
      </p:sp>
      <p:sp>
        <p:nvSpPr>
          <p:cNvPr id="7" name="d1"/>
          <p:cNvSpPr/>
          <p:nvPr>
            <p:custDataLst>
              <p:tags r:id="rId3"/>
            </p:custDataLst>
          </p:nvPr>
        </p:nvSpPr>
        <p:spPr>
          <a:xfrm>
            <a:off x="1371600" y="2311400"/>
            <a:ext cx="6096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安装包在群里（QQ 1130679223），QQ 传或网盘下</a:t>
            </a:r>
            <a:r>
              <a:rPr lang="zh-CN" alt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9.0.383</a:t>
            </a:r>
            <a:r>
              <a:rPr lang="zh-CN" alt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后续版本在</a:t>
            </a:r>
            <a:r>
              <a:rPr lang="en-US" altLang="zh-CN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</a:t>
            </a:r>
            <a:r>
              <a:rPr lang="zh-CN" alt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下）</a:t>
            </a: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300" dirty="0"/>
          </a:p>
        </p:txBody>
      </p:sp>
      <p:sp>
        <p:nvSpPr>
          <p:cNvPr id="8" name="n2"/>
          <p:cNvSpPr/>
          <p:nvPr>
            <p:custDataLst>
              <p:tags r:id="rId4"/>
            </p:custDataLst>
          </p:nvPr>
        </p:nvSpPr>
        <p:spPr>
          <a:xfrm>
            <a:off x="609600" y="29464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2"/>
          <p:cNvSpPr/>
          <p:nvPr>
            <p:custDataLst>
              <p:tags r:id="rId5"/>
            </p:custDataLst>
          </p:nvPr>
        </p:nvSpPr>
        <p:spPr>
          <a:xfrm>
            <a:off x="1371600" y="2971800"/>
            <a:ext cx="6096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允许未知来源</a:t>
            </a:r>
            <a:endParaRPr lang="en-US" sz="1700" dirty="0"/>
          </a:p>
        </p:txBody>
      </p:sp>
      <p:sp>
        <p:nvSpPr>
          <p:cNvPr id="10" name="d2"/>
          <p:cNvSpPr/>
          <p:nvPr>
            <p:custDataLst>
              <p:tags r:id="rId6"/>
            </p:custDataLst>
          </p:nvPr>
        </p:nvSpPr>
        <p:spPr>
          <a:xfrm>
            <a:off x="1371600" y="3352800"/>
            <a:ext cx="6096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点开安装，第一次会提示「未知来源应用」，按提示允许一次。</a:t>
            </a:r>
            <a:endParaRPr lang="en-US" sz="1300" dirty="0"/>
          </a:p>
        </p:txBody>
      </p:sp>
      <p:sp>
        <p:nvSpPr>
          <p:cNvPr id="11" name="n3"/>
          <p:cNvSpPr/>
          <p:nvPr>
            <p:custDataLst>
              <p:tags r:id="rId7"/>
            </p:custDataLst>
          </p:nvPr>
        </p:nvSpPr>
        <p:spPr>
          <a:xfrm>
            <a:off x="609600" y="39878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3"/>
          <p:cNvSpPr/>
          <p:nvPr>
            <p:custDataLst>
              <p:tags r:id="rId8"/>
            </p:custDataLst>
          </p:nvPr>
        </p:nvSpPr>
        <p:spPr>
          <a:xfrm>
            <a:off x="1371600" y="4013200"/>
            <a:ext cx="6096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报「签名不一致」就先卸载旧的</a:t>
            </a:r>
            <a:endParaRPr lang="en-US" sz="1700" dirty="0"/>
          </a:p>
        </p:txBody>
      </p:sp>
      <p:sp>
        <p:nvSpPr>
          <p:cNvPr id="13" name="d3"/>
          <p:cNvSpPr/>
          <p:nvPr>
            <p:custDataLst>
              <p:tags r:id="rId9"/>
            </p:custDataLst>
          </p:nvPr>
        </p:nvSpPr>
        <p:spPr>
          <a:xfrm>
            <a:off x="1371600" y="4394200"/>
            <a:ext cx="6096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手机里还装着别的来源的旧版，先卸载再装；卸载会清空旧聊天记录。</a:t>
            </a:r>
            <a:endParaRPr lang="en-US" sz="1300" dirty="0"/>
          </a:p>
        </p:txBody>
      </p:sp>
      <p:sp>
        <p:nvSpPr>
          <p:cNvPr id="14" name="sidebg"/>
          <p:cNvSpPr/>
          <p:nvPr/>
        </p:nvSpPr>
        <p:spPr>
          <a:xfrm>
            <a:off x="7721600" y="1879600"/>
            <a:ext cx="3860800" cy="276860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5" name="sidetitle"/>
          <p:cNvSpPr/>
          <p:nvPr/>
        </p:nvSpPr>
        <p:spPr>
          <a:xfrm>
            <a:off x="8026400" y="2133600"/>
            <a:ext cx="3302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装完先别急着开</a:t>
            </a:r>
            <a:endParaRPr lang="en-US" sz="1600" dirty="0"/>
          </a:p>
        </p:txBody>
      </p:sp>
      <p:sp>
        <p:nvSpPr>
          <p:cNvPr id="16" name="sidebody"/>
          <p:cNvSpPr/>
          <p:nvPr/>
        </p:nvSpPr>
        <p:spPr>
          <a:xfrm>
            <a:off x="8026400" y="2565400"/>
            <a:ext cx="3251200" cy="1854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第一次启动要解模型。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最好插着电、连着 Wi-Fi，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别切后台，等它跑完。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中途被打断，多半会闪退。</a:t>
            </a:r>
            <a:endParaRPr lang="en-US" sz="1300" dirty="0"/>
          </a:p>
        </p:txBody>
      </p:sp>
      <p:sp>
        <p:nvSpPr>
          <p:cNvPr id="17" name="foot"/>
          <p:cNvSpPr/>
          <p:nvPr/>
        </p:nvSpPr>
        <p:spPr>
          <a:xfrm>
            <a:off x="609600" y="5257800"/>
            <a:ext cx="109728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安装包约 897MB，装完占约 0.9GB。</a:t>
            </a:r>
            <a:r>
              <a:rPr lang="zh-CN" alt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后续会随着功能变多变大。</a:t>
            </a: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第一次让她动手机时还会再解约</a:t>
            </a:r>
            <a:endParaRPr lang="en-US" sz="1300" dirty="0">
              <a:solidFill>
                <a:srgbClr val="8888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1.1GB 的运行时——包里装的是本机语音识别、情绪模型、检索模型、立绘和干活运行时，不是缓存。</a:t>
            </a:r>
            <a:endParaRPr lang="en-US" sz="1300" dirty="0"/>
          </a:p>
        </p:txBody>
      </p:sp>
      <p:sp>
        <p:nvSpPr>
          <p:cNvPr id="18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第一次打开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打开后只做三步</a:t>
            </a:r>
            <a:endParaRPr lang="en-US" sz="3700" dirty="0"/>
          </a:p>
        </p:txBody>
      </p:sp>
      <p:sp>
        <p:nvSpPr>
          <p:cNvPr id="5" name="lead"/>
          <p:cNvSpPr/>
          <p:nvPr/>
        </p:nvSpPr>
        <p:spPr>
          <a:xfrm>
            <a:off x="609600" y="1727200"/>
            <a:ext cx="10414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打开后停在「连接电脑」页——不用连电脑，看下面那颗按钮。</a:t>
            </a:r>
            <a:endParaRPr lang="en-US" sz="1400" dirty="0"/>
          </a:p>
        </p:txBody>
      </p:sp>
      <p:sp>
        <p:nvSpPr>
          <p:cNvPr id="6" name="c1bg"/>
          <p:cNvSpPr/>
          <p:nvPr/>
        </p:nvSpPr>
        <p:spPr>
          <a:xfrm>
            <a:off x="609600" y="2235200"/>
            <a:ext cx="3454400" cy="309880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7" name="c1n"/>
          <p:cNvSpPr/>
          <p:nvPr/>
        </p:nvSpPr>
        <p:spPr>
          <a:xfrm>
            <a:off x="914400" y="24384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c1t"/>
          <p:cNvSpPr/>
          <p:nvPr/>
        </p:nvSpPr>
        <p:spPr>
          <a:xfrm>
            <a:off x="914400" y="3022600"/>
            <a:ext cx="28448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装人格</a:t>
            </a:r>
            <a:endParaRPr lang="en-US" sz="1900" dirty="0"/>
          </a:p>
        </p:txBody>
      </p:sp>
      <p:sp>
        <p:nvSpPr>
          <p:cNvPr id="9" name="c1b"/>
          <p:cNvSpPr/>
          <p:nvPr/>
        </p:nvSpPr>
        <p:spPr>
          <a:xfrm>
            <a:off x="914400" y="3403600"/>
            <a:ext cx="28448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点「装人格，独立使用」。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人格装进手机里，默认日语；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想换中文在 设置 →「本机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人格」里改。</a:t>
            </a:r>
            <a:endParaRPr lang="en-US" sz="1300" dirty="0"/>
          </a:p>
        </p:txBody>
      </p:sp>
      <p:sp>
        <p:nvSpPr>
          <p:cNvPr id="10" name="c2bg"/>
          <p:cNvSpPr/>
          <p:nvPr/>
        </p:nvSpPr>
        <p:spPr>
          <a:xfrm>
            <a:off x="4267200" y="2235200"/>
            <a:ext cx="3454400" cy="309880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1" name="c2n"/>
          <p:cNvSpPr/>
          <p:nvPr/>
        </p:nvSpPr>
        <p:spPr>
          <a:xfrm>
            <a:off x="4572000" y="24384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c2t"/>
          <p:cNvSpPr/>
          <p:nvPr/>
        </p:nvSpPr>
        <p:spPr>
          <a:xfrm>
            <a:off x="4572000" y="3022600"/>
            <a:ext cx="28448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填大模型钥匙</a:t>
            </a:r>
            <a:endParaRPr lang="en-US" sz="1900" dirty="0"/>
          </a:p>
        </p:txBody>
      </p:sp>
      <p:sp>
        <p:nvSpPr>
          <p:cNvPr id="13" name="c2b"/>
          <p:cNvSpPr/>
          <p:nvPr/>
        </p:nvSpPr>
        <p:spPr>
          <a:xfrm>
            <a:off x="4572000" y="3403600"/>
            <a:ext cx="28448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会自动跳到这一页。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三项一起填，然后保存：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服务地址、模型名、钥匙。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下一张拆开讲。</a:t>
            </a:r>
            <a:endParaRPr lang="en-US" sz="1300" dirty="0"/>
          </a:p>
        </p:txBody>
      </p:sp>
      <p:sp>
        <p:nvSpPr>
          <p:cNvPr id="14" name="c3bg"/>
          <p:cNvSpPr/>
          <p:nvPr/>
        </p:nvSpPr>
        <p:spPr>
          <a:xfrm>
            <a:off x="7924800" y="2235200"/>
            <a:ext cx="3657600" cy="309880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5" name="c3n"/>
          <p:cNvSpPr/>
          <p:nvPr/>
        </p:nvSpPr>
        <p:spPr>
          <a:xfrm>
            <a:off x="8229600" y="24384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c3t"/>
          <p:cNvSpPr/>
          <p:nvPr/>
        </p:nvSpPr>
        <p:spPr>
          <a:xfrm>
            <a:off x="8229600" y="3022600"/>
            <a:ext cx="3048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填语音钥匙（可选）</a:t>
            </a:r>
            <a:endParaRPr lang="en-US" sz="1800" dirty="0"/>
          </a:p>
        </p:txBody>
      </p:sp>
      <p:sp>
        <p:nvSpPr>
          <p:cNvPr id="17" name="c3b"/>
          <p:cNvSpPr/>
          <p:nvPr/>
        </p:nvSpPr>
        <p:spPr>
          <a:xfrm>
            <a:off x="8229600" y="3403600"/>
            <a:ext cx="3048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想让她出声就填，不填也能用，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只是没声音。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Fish 与千问二选一，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填完保存。</a:t>
            </a:r>
            <a:endParaRPr lang="en-US" sz="1300" dirty="0"/>
          </a:p>
        </p:txBody>
      </p:sp>
      <p:sp>
        <p:nvSpPr>
          <p:cNvPr id="18" name="tip"/>
          <p:cNvSpPr/>
          <p:nvPr/>
        </p:nvSpPr>
        <p:spPr>
          <a:xfrm>
            <a:off x="609600" y="5537200"/>
            <a:ext cx="109728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顶部写着「待配对」是正常的——那只表示没连电脑，不影响使用。</a:t>
            </a:r>
            <a:endParaRPr lang="en-US" sz="1400" dirty="0"/>
          </a:p>
        </p:txBody>
      </p:sp>
      <p:sp>
        <p:nvSpPr>
          <p:cNvPr id="19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8763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大模型钥匙（必须）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8763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65200"/>
            <a:ext cx="8636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填对大脑：只改三个框</a:t>
            </a:r>
            <a:endParaRPr lang="en-US" sz="3700" dirty="0"/>
          </a:p>
        </p:txBody>
      </p:sp>
      <p:sp>
        <p:nvSpPr>
          <p:cNvPr id="5" name="l1"/>
          <p:cNvSpPr/>
          <p:nvPr/>
        </p:nvSpPr>
        <p:spPr>
          <a:xfrm>
            <a:off x="609600" y="2057400"/>
            <a:ext cx="8382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服务地址</a:t>
            </a:r>
            <a:endParaRPr lang="en-US" sz="1200" dirty="0"/>
          </a:p>
        </p:txBody>
      </p:sp>
      <p:sp>
        <p:nvSpPr>
          <p:cNvPr id="6" name="v1"/>
          <p:cNvSpPr/>
          <p:nvPr/>
        </p:nvSpPr>
        <p:spPr>
          <a:xfrm>
            <a:off x="609600" y="2336800"/>
            <a:ext cx="5969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ECE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https://api.deepseek.com/v1</a:t>
            </a:r>
            <a:endParaRPr lang="en-US" sz="1900" dirty="0"/>
          </a:p>
        </p:txBody>
      </p:sp>
      <p:sp>
        <p:nvSpPr>
          <p:cNvPr id="7" name="h1"/>
          <p:cNvSpPr/>
          <p:nvPr/>
        </p:nvSpPr>
        <p:spPr>
          <a:xfrm>
            <a:off x="6731000" y="2387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填到 /v1 这一层为止</a:t>
            </a:r>
            <a:endParaRPr lang="en-US" sz="1300" dirty="0"/>
          </a:p>
        </p:txBody>
      </p:sp>
      <p:sp>
        <p:nvSpPr>
          <p:cNvPr id="8" name="l2"/>
          <p:cNvSpPr/>
          <p:nvPr/>
        </p:nvSpPr>
        <p:spPr>
          <a:xfrm>
            <a:off x="609600" y="2946400"/>
            <a:ext cx="8382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模型名</a:t>
            </a:r>
            <a:endParaRPr lang="en-US" sz="1200" dirty="0"/>
          </a:p>
        </p:txBody>
      </p:sp>
      <p:sp>
        <p:nvSpPr>
          <p:cNvPr id="9" name="v2"/>
          <p:cNvSpPr/>
          <p:nvPr/>
        </p:nvSpPr>
        <p:spPr>
          <a:xfrm>
            <a:off x="609600" y="3225800"/>
            <a:ext cx="5969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ECE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deepseek-chat</a:t>
            </a:r>
            <a:endParaRPr lang="en-US" sz="1900" dirty="0"/>
          </a:p>
        </p:txBody>
      </p:sp>
      <p:sp>
        <p:nvSpPr>
          <p:cNvPr id="10" name="h2"/>
          <p:cNvSpPr/>
          <p:nvPr/>
        </p:nvSpPr>
        <p:spPr>
          <a:xfrm>
            <a:off x="6731000" y="3276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照所选服务的文档写</a:t>
            </a:r>
            <a:endParaRPr lang="en-US" sz="1300" dirty="0"/>
          </a:p>
        </p:txBody>
      </p:sp>
      <p:sp>
        <p:nvSpPr>
          <p:cNvPr id="11" name="l3"/>
          <p:cNvSpPr/>
          <p:nvPr/>
        </p:nvSpPr>
        <p:spPr>
          <a:xfrm>
            <a:off x="609600" y="3835400"/>
            <a:ext cx="8382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钥匙（聊天与动手都用这一枚）</a:t>
            </a:r>
            <a:endParaRPr lang="en-US" sz="1200" dirty="0"/>
          </a:p>
        </p:txBody>
      </p:sp>
      <p:sp>
        <p:nvSpPr>
          <p:cNvPr id="12" name="v3"/>
          <p:cNvSpPr/>
          <p:nvPr/>
        </p:nvSpPr>
        <p:spPr>
          <a:xfrm>
            <a:off x="609600" y="4114800"/>
            <a:ext cx="5969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sk- 开头的一整串</a:t>
            </a:r>
            <a:endParaRPr lang="en-US" sz="1900" dirty="0"/>
          </a:p>
        </p:txBody>
      </p:sp>
      <p:sp>
        <p:nvSpPr>
          <p:cNvPr id="13" name="h3"/>
          <p:cNvSpPr/>
          <p:nvPr/>
        </p:nvSpPr>
        <p:spPr>
          <a:xfrm>
            <a:off x="6731000" y="4165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粘贴后保存，三项一起填</a:t>
            </a:r>
            <a:endParaRPr lang="en-US" sz="1300" dirty="0"/>
          </a:p>
        </p:txBody>
      </p:sp>
      <p:sp>
        <p:nvSpPr>
          <p:cNvPr id="14" name="note"/>
          <p:cNvSpPr/>
          <p:nvPr/>
        </p:nvSpPr>
        <p:spPr>
          <a:xfrm>
            <a:off x="609600" y="4876800"/>
            <a:ext cx="8382000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地址下面会自动接 /chat/completions，所以别自己带上它。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任何「OpenAI 兼容」的服务都能用：DeepSeek、智谱、Moonshot、通义、OpenAI。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Anthropic、Gemini 的原生接口接不上。三项要一起填，留空的那几项保留原来的。</a:t>
            </a:r>
            <a:endParaRPr lang="en-US" sz="1400" dirty="0"/>
          </a:p>
        </p:txBody>
      </p:sp>
      <p:pic>
        <p:nvPicPr>
          <p:cNvPr id="15" name="shot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677400" y="1524000"/>
            <a:ext cx="1905000" cy="4140200"/>
          </a:xfrm>
          <a:prstGeom prst="rect">
            <a:avLst/>
          </a:prstGeom>
        </p:spPr>
      </p:pic>
      <p:sp>
        <p:nvSpPr>
          <p:cNvPr id="16" name="cap"/>
          <p:cNvSpPr/>
          <p:nvPr/>
        </p:nvSpPr>
        <p:spPr>
          <a:xfrm>
            <a:off x="9677400" y="5765800"/>
            <a:ext cx="1905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050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设置页实拍</a:t>
            </a:r>
            <a:endParaRPr lang="en-US" sz="1000" dirty="0"/>
          </a:p>
        </p:txBody>
      </p:sp>
      <p:sp>
        <p:nvSpPr>
          <p:cNvPr id="17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语音钥匙（可选）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652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两把语音钥匙，选一把</a:t>
            </a:r>
            <a:endParaRPr lang="en-US" sz="3700" dirty="0"/>
          </a:p>
        </p:txBody>
      </p:sp>
      <p:sp>
        <p:nvSpPr>
          <p:cNvPr id="5" name="divline"/>
          <p:cNvSpPr/>
          <p:nvPr/>
        </p:nvSpPr>
        <p:spPr>
          <a:xfrm>
            <a:off x="6070600" y="1905000"/>
            <a:ext cx="12700" cy="37084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6" name="fh"/>
          <p:cNvSpPr/>
          <p:nvPr/>
        </p:nvSpPr>
        <p:spPr>
          <a:xfrm>
            <a:off x="609600" y="18796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FISH AUDIO · 手机直连</a:t>
            </a:r>
            <a:endParaRPr lang="en-US" sz="1200" dirty="0"/>
          </a:p>
        </p:txBody>
      </p:sp>
      <p:sp>
        <p:nvSpPr>
          <p:cNvPr id="7" name="fa-l"/>
          <p:cNvSpPr/>
          <p:nvPr/>
        </p:nvSpPr>
        <p:spPr>
          <a:xfrm>
            <a:off x="609600" y="22606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地址</a:t>
            </a:r>
            <a:endParaRPr lang="en-US" sz="1100" dirty="0"/>
          </a:p>
        </p:txBody>
      </p:sp>
      <p:sp>
        <p:nvSpPr>
          <p:cNvPr id="8" name="fa-v"/>
          <p:cNvSpPr/>
          <p:nvPr/>
        </p:nvSpPr>
        <p:spPr>
          <a:xfrm>
            <a:off x="609600" y="24892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wss://api.fish.audio/v1/tts/live</a:t>
            </a:r>
            <a:endParaRPr lang="en-US" sz="1500" dirty="0"/>
          </a:p>
        </p:txBody>
      </p:sp>
      <p:sp>
        <p:nvSpPr>
          <p:cNvPr id="9" name="fm-l"/>
          <p:cNvSpPr/>
          <p:nvPr/>
        </p:nvSpPr>
        <p:spPr>
          <a:xfrm>
            <a:off x="609600" y="31750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en-US" sz="1100" dirty="0"/>
          </a:p>
        </p:txBody>
      </p:sp>
      <p:sp>
        <p:nvSpPr>
          <p:cNvPr id="10" name="fm-v"/>
          <p:cNvSpPr/>
          <p:nvPr/>
        </p:nvSpPr>
        <p:spPr>
          <a:xfrm>
            <a:off x="609600" y="34036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s2.1-pro-free</a:t>
            </a:r>
            <a:endParaRPr lang="en-US" sz="1500" dirty="0"/>
          </a:p>
        </p:txBody>
      </p:sp>
      <p:sp>
        <p:nvSpPr>
          <p:cNvPr id="11" name="fv-l"/>
          <p:cNvSpPr/>
          <p:nvPr/>
        </p:nvSpPr>
        <p:spPr>
          <a:xfrm>
            <a:off x="609600" y="40894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音色</a:t>
            </a:r>
            <a:endParaRPr lang="en-US" sz="1100" dirty="0"/>
          </a:p>
        </p:txBody>
      </p:sp>
      <p:sp>
        <p:nvSpPr>
          <p:cNvPr id="12" name="fv-v"/>
          <p:cNvSpPr/>
          <p:nvPr/>
        </p:nvSpPr>
        <p:spPr>
          <a:xfrm>
            <a:off x="609600" y="4318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复刻出的 voice_id 编号</a:t>
            </a:r>
            <a:endParaRPr lang="en-US" sz="1500" dirty="0"/>
          </a:p>
        </p:txBody>
      </p:sp>
      <p:sp>
        <p:nvSpPr>
          <p:cNvPr id="13" name="fk-l"/>
          <p:cNvSpPr/>
          <p:nvPr/>
        </p:nvSpPr>
        <p:spPr>
          <a:xfrm>
            <a:off x="609600" y="50038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钥匙</a:t>
            </a:r>
            <a:endParaRPr lang="en-US" sz="1100" dirty="0"/>
          </a:p>
        </p:txBody>
      </p:sp>
      <p:sp>
        <p:nvSpPr>
          <p:cNvPr id="14" name="fk-v"/>
          <p:cNvSpPr/>
          <p:nvPr/>
        </p:nvSpPr>
        <p:spPr>
          <a:xfrm>
            <a:off x="609600" y="523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fish.audio 后台新建的一把</a:t>
            </a:r>
            <a:endParaRPr lang="en-US" sz="1500" dirty="0"/>
          </a:p>
        </p:txBody>
      </p:sp>
      <p:sp>
        <p:nvSpPr>
          <p:cNvPr id="15" name="qh"/>
          <p:cNvSpPr/>
          <p:nvPr/>
        </p:nvSpPr>
        <p:spPr>
          <a:xfrm>
            <a:off x="6451600" y="1879600"/>
            <a:ext cx="482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千问 COSYVOICE · 电脑合成</a:t>
            </a:r>
            <a:endParaRPr lang="en-US" sz="1200" dirty="0"/>
          </a:p>
        </p:txBody>
      </p:sp>
      <p:sp>
        <p:nvSpPr>
          <p:cNvPr id="16" name="qa-l"/>
          <p:cNvSpPr/>
          <p:nvPr/>
        </p:nvSpPr>
        <p:spPr>
          <a:xfrm>
            <a:off x="6451600" y="22606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地址</a:t>
            </a:r>
            <a:endParaRPr lang="en-US" sz="1100" dirty="0"/>
          </a:p>
        </p:txBody>
      </p:sp>
      <p:sp>
        <p:nvSpPr>
          <p:cNvPr id="17" name="qa-v"/>
          <p:cNvSpPr/>
          <p:nvPr/>
        </p:nvSpPr>
        <p:spPr>
          <a:xfrm>
            <a:off x="6451600" y="24892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留空 = 默认 maas.qianwenai.com</a:t>
            </a:r>
            <a:endParaRPr lang="en-US" sz="1500" dirty="0"/>
          </a:p>
        </p:txBody>
      </p:sp>
      <p:sp>
        <p:nvSpPr>
          <p:cNvPr id="18" name="qm-l"/>
          <p:cNvSpPr/>
          <p:nvPr/>
        </p:nvSpPr>
        <p:spPr>
          <a:xfrm>
            <a:off x="6451600" y="31750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en-US" sz="1100" dirty="0"/>
          </a:p>
        </p:txBody>
      </p:sp>
      <p:sp>
        <p:nvSpPr>
          <p:cNvPr id="19" name="qm-v"/>
          <p:cNvSpPr/>
          <p:nvPr/>
        </p:nvSpPr>
        <p:spPr>
          <a:xfrm>
            <a:off x="6451600" y="34036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cosyvoice-v3.5-flash</a:t>
            </a:r>
            <a:endParaRPr lang="en-US" sz="1500" dirty="0"/>
          </a:p>
        </p:txBody>
      </p:sp>
      <p:sp>
        <p:nvSpPr>
          <p:cNvPr id="20" name="qv-l"/>
          <p:cNvSpPr/>
          <p:nvPr/>
        </p:nvSpPr>
        <p:spPr>
          <a:xfrm>
            <a:off x="6451600" y="40894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音色</a:t>
            </a:r>
            <a:endParaRPr lang="en-US" sz="1100" dirty="0"/>
          </a:p>
        </p:txBody>
      </p:sp>
      <p:sp>
        <p:nvSpPr>
          <p:cNvPr id="21" name="qv-v"/>
          <p:cNvSpPr/>
          <p:nvPr/>
        </p:nvSpPr>
        <p:spPr>
          <a:xfrm>
            <a:off x="6451600" y="4318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复刻出的 voice_id 编号</a:t>
            </a:r>
            <a:endParaRPr lang="en-US" sz="1500" dirty="0"/>
          </a:p>
        </p:txBody>
      </p:sp>
      <p:sp>
        <p:nvSpPr>
          <p:cNvPr id="22" name="qk-l"/>
          <p:cNvSpPr/>
          <p:nvPr/>
        </p:nvSpPr>
        <p:spPr>
          <a:xfrm>
            <a:off x="6451600" y="5003800"/>
            <a:ext cx="4826000" cy="20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钥匙</a:t>
            </a:r>
            <a:endParaRPr lang="en-US" sz="1100" dirty="0"/>
          </a:p>
        </p:txBody>
      </p:sp>
      <p:sp>
        <p:nvSpPr>
          <p:cNvPr id="23" name="qk-v"/>
          <p:cNvSpPr/>
          <p:nvPr/>
        </p:nvSpPr>
        <p:spPr>
          <a:xfrm>
            <a:off x="6451600" y="523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阿里云百炼的 CosyVoice 密钥</a:t>
            </a:r>
            <a:endParaRPr lang="en-US" sz="1500" dirty="0"/>
          </a:p>
        </p:txBody>
      </p:sp>
      <p:sp>
        <p:nvSpPr>
          <p:cNvPr id="24" name="bottom"/>
          <p:cNvSpPr/>
          <p:nvPr/>
        </p:nvSpPr>
        <p:spPr>
          <a:xfrm>
            <a:off x="609600" y="5867400"/>
            <a:ext cx="10414000" cy="43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不填也能用，只是没声音。手机这把钥匙只在这台手机上，不记账、也不经过电脑。</a:t>
            </a:r>
            <a:endParaRPr lang="en-US" sz="1300" dirty="0"/>
          </a:p>
        </p:txBody>
      </p:sp>
      <p:sp>
        <p:nvSpPr>
          <p:cNvPr id="25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主页怎么用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三样东西：输入框、麦克风、加号</a:t>
            </a:r>
            <a:endParaRPr lang="en-US" sz="3400" dirty="0"/>
          </a:p>
        </p:txBody>
      </p:sp>
      <p:sp>
        <p:nvSpPr>
          <p:cNvPr id="5" name="r1bg"/>
          <p:cNvSpPr/>
          <p:nvPr/>
        </p:nvSpPr>
        <p:spPr>
          <a:xfrm>
            <a:off x="609600" y="1905000"/>
            <a:ext cx="10972800" cy="83820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6" name="r1t"/>
          <p:cNvSpPr/>
          <p:nvPr/>
        </p:nvSpPr>
        <p:spPr>
          <a:xfrm>
            <a:off x="863600" y="20320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打字</a:t>
            </a:r>
            <a:endParaRPr lang="en-US" sz="1600" dirty="0"/>
          </a:p>
        </p:txBody>
      </p:sp>
      <p:sp>
        <p:nvSpPr>
          <p:cNvPr id="7" name="r1b"/>
          <p:cNvSpPr/>
          <p:nvPr/>
        </p:nvSpPr>
        <p:spPr>
          <a:xfrm>
            <a:off x="2794000" y="2032000"/>
            <a:ext cx="8534400" cy="584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底部输入框，回车发送。</a:t>
            </a:r>
            <a:endParaRPr lang="en-US" sz="1400" dirty="0"/>
          </a:p>
        </p:txBody>
      </p:sp>
      <p:sp>
        <p:nvSpPr>
          <p:cNvPr id="8" name="r2bg"/>
          <p:cNvSpPr/>
          <p:nvPr/>
        </p:nvSpPr>
        <p:spPr>
          <a:xfrm>
            <a:off x="609600" y="2844800"/>
            <a:ext cx="10972800" cy="111760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9" name="r2t"/>
          <p:cNvSpPr/>
          <p:nvPr/>
        </p:nvSpPr>
        <p:spPr>
          <a:xfrm>
            <a:off x="863600" y="29718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说话</a:t>
            </a:r>
            <a:endParaRPr lang="en-US" sz="1600" dirty="0"/>
          </a:p>
        </p:txBody>
      </p:sp>
      <p:sp>
        <p:nvSpPr>
          <p:cNvPr id="10" name="r2b"/>
          <p:cNvSpPr/>
          <p:nvPr/>
        </p:nvSpPr>
        <p:spPr>
          <a:xfrm>
            <a:off x="2794000" y="2971800"/>
            <a:ext cx="85344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按住左下角麦克风。语音在本机识别，录音不上传。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她说话时你直接开口就能插话。</a:t>
            </a:r>
            <a:endParaRPr lang="en-US" sz="1400" dirty="0"/>
          </a:p>
        </p:txBody>
      </p:sp>
      <p:sp>
        <p:nvSpPr>
          <p:cNvPr id="11" name="r3bg"/>
          <p:cNvSpPr/>
          <p:nvPr/>
        </p:nvSpPr>
        <p:spPr>
          <a:xfrm>
            <a:off x="609600" y="4064000"/>
            <a:ext cx="10972800" cy="111760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2" name="r3t"/>
          <p:cNvSpPr/>
          <p:nvPr/>
        </p:nvSpPr>
        <p:spPr>
          <a:xfrm>
            <a:off x="863600" y="41910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加号</a:t>
            </a:r>
            <a:endParaRPr lang="en-US" sz="1600" dirty="0"/>
          </a:p>
        </p:txBody>
      </p:sp>
      <p:sp>
        <p:nvSpPr>
          <p:cNvPr id="13" name="r3b"/>
          <p:cNvSpPr/>
          <p:nvPr/>
        </p:nvSpPr>
        <p:spPr>
          <a:xfrm>
            <a:off x="2794000" y="4191000"/>
            <a:ext cx="85344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相册、屏幕共享、情绪、悬浮桌宠；第二页是「这台手机」——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陀螺仪视角、主动搭话挡位。</a:t>
            </a:r>
            <a:endParaRPr lang="en-US" sz="1400" dirty="0"/>
          </a:p>
        </p:txBody>
      </p:sp>
      <p:sp>
        <p:nvSpPr>
          <p:cNvPr id="14" name="r4bg"/>
          <p:cNvSpPr/>
          <p:nvPr/>
        </p:nvSpPr>
        <p:spPr>
          <a:xfrm>
            <a:off x="609600" y="5283200"/>
            <a:ext cx="10972800" cy="83820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5" name="r4t"/>
          <p:cNvSpPr/>
          <p:nvPr/>
        </p:nvSpPr>
        <p:spPr>
          <a:xfrm>
            <a:off x="863600" y="54102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右上角</a:t>
            </a:r>
            <a:endParaRPr lang="en-US" sz="1600" dirty="0"/>
          </a:p>
        </p:txBody>
      </p:sp>
      <p:sp>
        <p:nvSpPr>
          <p:cNvPr id="16" name="r4b"/>
          <p:cNvSpPr/>
          <p:nvPr/>
        </p:nvSpPr>
        <p:spPr>
          <a:xfrm>
            <a:off x="2794000" y="5410200"/>
            <a:ext cx="8534400" cy="584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设置。换人格、换钥匙、改字大小、更新版本都在里面。</a:t>
            </a:r>
            <a:endParaRPr lang="en-US" sz="1400" dirty="0"/>
          </a:p>
        </p:txBody>
      </p:sp>
      <p:sp>
        <p:nvSpPr>
          <p:cNvPr id="17" name="foot"/>
          <p:cNvSpPr/>
          <p:nvPr/>
        </p:nvSpPr>
        <p:spPr>
          <a:xfrm>
            <a:off x="609600" y="62738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第一次说话会弹麦克风权限，点「允许」；摄像头同理。</a:t>
            </a:r>
            <a:endParaRPr lang="en-US" sz="1200" dirty="0"/>
          </a:p>
        </p:txBody>
      </p:sp>
      <p:sp>
        <p:nvSpPr>
          <p:cNvPr id="18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/ 让她动手（可选）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652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想让她帮你点屏幕</a:t>
            </a:r>
            <a:endParaRPr lang="en-US" sz="3700" dirty="0"/>
          </a:p>
        </p:txBody>
      </p:sp>
      <p:sp>
        <p:nvSpPr>
          <p:cNvPr id="5" name="lead"/>
          <p:cNvSpPr/>
          <p:nvPr/>
        </p:nvSpPr>
        <p:spPr>
          <a:xfrm>
            <a:off x="609600" y="1778000"/>
            <a:ext cx="10414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可选，但很好用：点屏幕、打字、开应用、截屏、锁屏。</a:t>
            </a:r>
            <a:endParaRPr lang="en-US" sz="1400" dirty="0"/>
          </a:p>
        </p:txBody>
      </p:sp>
      <p:sp>
        <p:nvSpPr>
          <p:cNvPr id="6" name="pathbg"/>
          <p:cNvSpPr/>
          <p:nvPr/>
        </p:nvSpPr>
        <p:spPr>
          <a:xfrm>
            <a:off x="609600" y="2235200"/>
            <a:ext cx="10972800" cy="1168400"/>
          </a:xfrm>
          <a:prstGeom prst="rect">
            <a:avLst/>
          </a:prstGeom>
          <a:solidFill>
            <a:srgbClr val="1A1A18"/>
          </a:solidFill>
          <a:ln w="25400">
            <a:solidFill>
              <a:srgbClr val="E85D26"/>
            </a:solidFill>
            <a:prstDash val="solid"/>
          </a:ln>
        </p:spPr>
      </p:sp>
      <p:sp>
        <p:nvSpPr>
          <p:cNvPr id="7" name="patht"/>
          <p:cNvSpPr/>
          <p:nvPr/>
        </p:nvSpPr>
        <p:spPr>
          <a:xfrm>
            <a:off x="863600" y="23876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先开一个系统开关</a:t>
            </a:r>
            <a:endParaRPr lang="en-US" sz="1300" dirty="0"/>
          </a:p>
        </p:txBody>
      </p:sp>
      <p:sp>
        <p:nvSpPr>
          <p:cNvPr id="8" name="pathb"/>
          <p:cNvSpPr/>
          <p:nvPr/>
        </p:nvSpPr>
        <p:spPr>
          <a:xfrm>
            <a:off x="863600" y="2717800"/>
            <a:ext cx="104648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设置 → 无障碍 → 已下载的应用 → Amadeus → 打开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MIUI / 澎湃可能在同一个位置；有的系统在这一页还要再点一次「允许」。</a:t>
            </a:r>
            <a:endParaRPr lang="en-US" sz="1400" dirty="0"/>
          </a:p>
        </p:txBody>
      </p:sp>
      <p:sp>
        <p:nvSpPr>
          <p:cNvPr id="9" name="ex"/>
          <p:cNvSpPr/>
          <p:nvPr/>
        </p:nvSpPr>
        <p:spPr>
          <a:xfrm>
            <a:off x="609600" y="3657600"/>
            <a:ext cx="109728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开好之后直接说「帮我打开设置把亮度调低」，她会自己动手，做完回你一句。</a:t>
            </a:r>
            <a:endParaRPr lang="en-US" sz="1400" dirty="0"/>
          </a:p>
        </p:txBody>
      </p:sp>
      <p:sp>
        <p:nvSpPr>
          <p:cNvPr id="10" name="d1"/>
          <p:cNvSpPr/>
          <p:nvPr/>
        </p:nvSpPr>
        <p:spPr>
          <a:xfrm>
            <a:off x="609600" y="4267200"/>
            <a:ext cx="3454400" cy="111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没开也能正常聊天，只是她会说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「无障碍服务没开，这轮我点不了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屏幕」。</a:t>
            </a:r>
            <a:endParaRPr lang="en-US" sz="1300" dirty="0"/>
          </a:p>
        </p:txBody>
      </p:sp>
      <p:sp>
        <p:nvSpPr>
          <p:cNvPr id="11" name="d2"/>
          <p:cNvSpPr/>
          <p:nvPr/>
        </p:nvSpPr>
        <p:spPr>
          <a:xfrm>
            <a:off x="4368800" y="4267200"/>
            <a:ext cx="3454400" cy="111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一轮最多 25 个动作、3 分钟，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到点自己收场。中途想停，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直接说「停下」。</a:t>
            </a:r>
            <a:endParaRPr lang="en-US" sz="1300" dirty="0"/>
          </a:p>
        </p:txBody>
      </p:sp>
      <p:sp>
        <p:nvSpPr>
          <p:cNvPr id="12" name="d3"/>
          <p:cNvSpPr/>
          <p:nvPr/>
        </p:nvSpPr>
        <p:spPr>
          <a:xfrm>
            <a:off x="8128000" y="4267200"/>
            <a:ext cx="3454400" cy="111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第一次动手机时会解约 1.1GB 的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运行时，所以别在这时候切后台。</a:t>
            </a:r>
            <a:endParaRPr lang="en-US" sz="1300" dirty="0"/>
          </a:p>
        </p:txBody>
      </p:sp>
      <p:sp>
        <p:nvSpPr>
          <p:cNvPr id="13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/ 连电脑（可选）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连电脑不是必选项</a:t>
            </a:r>
            <a:endParaRPr lang="en-US" sz="3700" dirty="0"/>
          </a:p>
        </p:txBody>
      </p:sp>
      <p:sp>
        <p:nvSpPr>
          <p:cNvPr id="5" name="lead"/>
          <p:cNvSpPr/>
          <p:nvPr/>
        </p:nvSpPr>
        <p:spPr>
          <a:xfrm>
            <a:off x="609600" y="1752600"/>
            <a:ext cx="10414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不连也完全能用，先跑几天再连也行。</a:t>
            </a:r>
            <a:endParaRPr lang="en-US" sz="1400" dirty="0"/>
          </a:p>
        </p:txBody>
      </p:sp>
      <p:sp>
        <p:nvSpPr>
          <p:cNvPr id="6" name="s1n"/>
          <p:cNvSpPr/>
          <p:nvPr/>
        </p:nvSpPr>
        <p:spPr>
          <a:xfrm>
            <a:off x="609600" y="23114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1t"/>
          <p:cNvSpPr/>
          <p:nvPr/>
        </p:nvSpPr>
        <p:spPr>
          <a:xfrm>
            <a:off x="1397000" y="2336800"/>
            <a:ext cx="6096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电脑上启动 Amadeus 桌面端</a:t>
            </a:r>
            <a:endParaRPr lang="en-US" sz="1600" dirty="0"/>
          </a:p>
        </p:txBody>
      </p:sp>
      <p:sp>
        <p:nvSpPr>
          <p:cNvPr id="8" name="s1b"/>
          <p:cNvSpPr/>
          <p:nvPr/>
        </p:nvSpPr>
        <p:spPr>
          <a:xfrm>
            <a:off x="1397000" y="2692400"/>
            <a:ext cx="990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它会显示一个地址和一个配对码。</a:t>
            </a:r>
            <a:endParaRPr lang="en-US" sz="1300" dirty="0"/>
          </a:p>
        </p:txBody>
      </p:sp>
      <p:sp>
        <p:nvSpPr>
          <p:cNvPr id="9" name="s2n"/>
          <p:cNvSpPr/>
          <p:nvPr/>
        </p:nvSpPr>
        <p:spPr>
          <a:xfrm>
            <a:off x="609600" y="32766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2t"/>
          <p:cNvSpPr/>
          <p:nvPr/>
        </p:nvSpPr>
        <p:spPr>
          <a:xfrm>
            <a:off x="1397000" y="3302000"/>
            <a:ext cx="6096000" cy="33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手机进「连接电脑」页，填进去、连上</a:t>
            </a:r>
            <a:endParaRPr lang="en-US" sz="1600" dirty="0"/>
          </a:p>
        </p:txBody>
      </p:sp>
      <p:sp>
        <p:nvSpPr>
          <p:cNvPr id="11" name="s2b"/>
          <p:cNvSpPr/>
          <p:nvPr/>
        </p:nvSpPr>
        <p:spPr>
          <a:xfrm>
            <a:off x="1397000" y="3657600"/>
            <a:ext cx="99060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顶部「待配对」变成已连接，就成功了。</a:t>
            </a:r>
            <a:endParaRPr lang="en-US" sz="1300" dirty="0"/>
          </a:p>
        </p:txBody>
      </p:sp>
      <p:sp>
        <p:nvSpPr>
          <p:cNvPr id="12" name="gains"/>
          <p:cNvSpPr/>
          <p:nvPr/>
        </p:nvSpPr>
        <p:spPr>
          <a:xfrm>
            <a:off x="609600" y="4368800"/>
            <a:ext cx="109728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连上之后她能看电脑屏幕、读写电脑文件、两边共用同一份记忆。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大模型钥匙仍然只存在手机里，连电脑不会把它传过去。</a:t>
            </a:r>
            <a:endParaRPr lang="en-US" sz="1500" dirty="0"/>
          </a:p>
        </p:txBody>
      </p:sp>
      <p:sp>
        <p:nvSpPr>
          <p:cNvPr id="13" name="note"/>
          <p:cNvSpPr/>
          <p:nvPr/>
        </p:nvSpPr>
        <p:spPr>
          <a:xfrm>
            <a:off x="609600" y="5816600"/>
            <a:ext cx="9906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千问合成要电脑上的后端开着、且和手机在同一个网络里；门派别混：这是电脑那条路，不是手机直连。</a:t>
            </a:r>
            <a:endParaRPr lang="en-US" sz="1300" dirty="0"/>
          </a:p>
        </p:txBody>
      </p:sp>
      <p:sp>
        <p:nvSpPr>
          <p:cNvPr id="14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一条底线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全程挂梯子</a:t>
            </a:r>
            <a:endParaRPr lang="en-US" sz="3700" dirty="0"/>
          </a:p>
        </p:txBody>
      </p:sp>
      <p:sp>
        <p:nvSpPr>
          <p:cNvPr id="5" name="lead"/>
          <p:cNvSpPr/>
          <p:nvPr/>
        </p:nvSpPr>
        <p:spPr>
          <a:xfrm>
            <a:off x="609600" y="1752600"/>
            <a:ext cx="109728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大模型、Fish 语音、千问合成三条链路都在境外，任何一条没走代理都会当场失败。先开梯子，再开 APP。</a:t>
            </a:r>
            <a:endParaRPr lang="en-US" sz="1500" dirty="0"/>
          </a:p>
        </p:txBody>
      </p:sp>
      <p:sp>
        <p:nvSpPr>
          <p:cNvPr id="6" name="b1bg"/>
          <p:cNvSpPr/>
          <p:nvPr/>
        </p:nvSpPr>
        <p:spPr>
          <a:xfrm>
            <a:off x="609600" y="2489200"/>
            <a:ext cx="3352800" cy="2235200"/>
          </a:xfrm>
          <a:prstGeom prst="rect">
            <a:avLst/>
          </a:prstGeom>
          <a:solidFill>
            <a:srgbClr val="1A1A18"/>
          </a:solidFill>
          <a:ln w="25400">
            <a:solidFill>
              <a:srgbClr val="E85D26"/>
            </a:solidFill>
            <a:prstDash val="solid"/>
          </a:ln>
        </p:spPr>
      </p:sp>
      <p:sp>
        <p:nvSpPr>
          <p:cNvPr id="7" name="b1n"/>
          <p:cNvSpPr/>
          <p:nvPr/>
        </p:nvSpPr>
        <p:spPr>
          <a:xfrm>
            <a:off x="863600" y="2667000"/>
            <a:ext cx="2844800" cy="43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b1t"/>
          <p:cNvSpPr/>
          <p:nvPr/>
        </p:nvSpPr>
        <p:spPr>
          <a:xfrm>
            <a:off x="863600" y="314960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</a:t>
            </a:r>
            <a:endParaRPr lang="en-US" sz="1500" dirty="0"/>
          </a:p>
        </p:txBody>
      </p:sp>
      <p:sp>
        <p:nvSpPr>
          <p:cNvPr id="9" name="b1b"/>
          <p:cNvSpPr/>
          <p:nvPr/>
        </p:nvSpPr>
        <p:spPr>
          <a:xfrm>
            <a:off x="863600" y="3505200"/>
            <a:ext cx="28448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api.deepseek.com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能否 200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不行就先修这条</a:t>
            </a:r>
            <a:endParaRPr lang="en-US" sz="1200" dirty="0"/>
          </a:p>
        </p:txBody>
      </p:sp>
      <p:sp>
        <p:nvSpPr>
          <p:cNvPr id="10" name="b2bg"/>
          <p:cNvSpPr/>
          <p:nvPr/>
        </p:nvSpPr>
        <p:spPr>
          <a:xfrm>
            <a:off x="4267200" y="2489200"/>
            <a:ext cx="3352800" cy="2235200"/>
          </a:xfrm>
          <a:prstGeom prst="rect">
            <a:avLst/>
          </a:prstGeom>
          <a:solidFill>
            <a:srgbClr val="1A1A18"/>
          </a:solidFill>
          <a:ln w="25400">
            <a:solidFill>
              <a:srgbClr val="E85D26"/>
            </a:solidFill>
            <a:prstDash val="solid"/>
          </a:ln>
        </p:spPr>
      </p:sp>
      <p:sp>
        <p:nvSpPr>
          <p:cNvPr id="11" name="b2n"/>
          <p:cNvSpPr/>
          <p:nvPr/>
        </p:nvSpPr>
        <p:spPr>
          <a:xfrm>
            <a:off x="4521200" y="2667000"/>
            <a:ext cx="2844800" cy="43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b2t"/>
          <p:cNvSpPr/>
          <p:nvPr/>
        </p:nvSpPr>
        <p:spPr>
          <a:xfrm>
            <a:off x="4521200" y="314960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Fish 语音</a:t>
            </a:r>
            <a:endParaRPr lang="en-US" sz="1500" dirty="0"/>
          </a:p>
        </p:txBody>
      </p:sp>
      <p:sp>
        <p:nvSpPr>
          <p:cNvPr id="13" name="b2b"/>
          <p:cNvSpPr/>
          <p:nvPr/>
        </p:nvSpPr>
        <p:spPr>
          <a:xfrm>
            <a:off x="4521200" y="3505200"/>
            <a:ext cx="28448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api.fish.audio:443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能否握手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DNS 通但 443 不通 = 漏了</a:t>
            </a:r>
            <a:endParaRPr lang="en-US" sz="1200" dirty="0"/>
          </a:p>
        </p:txBody>
      </p:sp>
      <p:sp>
        <p:nvSpPr>
          <p:cNvPr id="14" name="b3bg"/>
          <p:cNvSpPr/>
          <p:nvPr/>
        </p:nvSpPr>
        <p:spPr>
          <a:xfrm>
            <a:off x="7924800" y="2489200"/>
            <a:ext cx="3657600" cy="2235200"/>
          </a:xfrm>
          <a:prstGeom prst="rect">
            <a:avLst/>
          </a:prstGeom>
          <a:solidFill>
            <a:srgbClr val="1A1A18"/>
          </a:solidFill>
          <a:ln w="25400">
            <a:solidFill>
              <a:srgbClr val="E85D26"/>
            </a:solidFill>
            <a:prstDash val="solid"/>
          </a:ln>
        </p:spPr>
      </p:sp>
      <p:sp>
        <p:nvSpPr>
          <p:cNvPr id="15" name="b3n"/>
          <p:cNvSpPr/>
          <p:nvPr/>
        </p:nvSpPr>
        <p:spPr>
          <a:xfrm>
            <a:off x="8178800" y="2667000"/>
            <a:ext cx="3149600" cy="43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b3t"/>
          <p:cNvSpPr/>
          <p:nvPr/>
        </p:nvSpPr>
        <p:spPr>
          <a:xfrm>
            <a:off x="8178800" y="3149600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千问合成</a:t>
            </a:r>
            <a:endParaRPr lang="en-US" sz="1500" dirty="0"/>
          </a:p>
        </p:txBody>
      </p:sp>
      <p:sp>
        <p:nvSpPr>
          <p:cNvPr id="17" name="b3b"/>
          <p:cNvSpPr/>
          <p:nvPr/>
        </p:nvSpPr>
        <p:spPr>
          <a:xfrm>
            <a:off x="8178800" y="3505200"/>
            <a:ext cx="3149600" cy="1066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没声音先查 voice_id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编号填对没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其次看电脑后端开着没</a:t>
            </a:r>
            <a:endParaRPr lang="en-US" sz="1200" dirty="0"/>
          </a:p>
        </p:txBody>
      </p:sp>
      <p:sp>
        <p:nvSpPr>
          <p:cNvPr id="18" name="foot"/>
          <p:cNvSpPr/>
          <p:nvPr/>
        </p:nvSpPr>
        <p:spPr>
          <a:xfrm>
            <a:off x="609600" y="5029200"/>
            <a:ext cx="109728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代理规则里要把这三个域名都放进去。只放一个，剩下两个照样不通。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手机直连要挂手机自己的梯子；电脑合成要电脑上的后端开着、且和手机在同一个网络里。</a:t>
            </a:r>
            <a:endParaRPr lang="en-US" sz="1300" dirty="0"/>
          </a:p>
        </p:txBody>
      </p:sp>
      <p:sp>
        <p:nvSpPr>
          <p:cNvPr id="19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排障 ① 大模型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90600"/>
            <a:ext cx="8636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服务商拒了这一轮</a:t>
            </a:r>
            <a:endParaRPr lang="en-US" sz="3700" dirty="0"/>
          </a:p>
        </p:txBody>
      </p:sp>
      <p:pic>
        <p:nvPicPr>
          <p:cNvPr id="5" name="shot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1879600"/>
            <a:ext cx="1905000" cy="4140200"/>
          </a:xfrm>
          <a:prstGeom prst="rect">
            <a:avLst/>
          </a:prstGeom>
        </p:spPr>
      </p:pic>
      <p:sp>
        <p:nvSpPr>
          <p:cNvPr id="6" name="cap"/>
          <p:cNvSpPr/>
          <p:nvPr/>
        </p:nvSpPr>
        <p:spPr>
          <a:xfrm>
            <a:off x="609600" y="60960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050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现场页：HTTP 400</a:t>
            </a:r>
            <a:endParaRPr lang="en-US" sz="1000" dirty="0"/>
          </a:p>
        </p:txBody>
      </p:sp>
      <p:sp>
        <p:nvSpPr>
          <p:cNvPr id="7" name="s1"/>
          <p:cNvSpPr/>
          <p:nvPr/>
        </p:nvSpPr>
        <p:spPr>
          <a:xfrm>
            <a:off x="3022600" y="1828800"/>
            <a:ext cx="787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现象</a:t>
            </a:r>
            <a:endParaRPr lang="en-US" sz="1200" dirty="0"/>
          </a:p>
        </p:txBody>
      </p:sp>
      <p:sp>
        <p:nvSpPr>
          <p:cNvPr id="8" name="s1t"/>
          <p:cNvSpPr/>
          <p:nvPr/>
        </p:nvSpPr>
        <p:spPr>
          <a:xfrm>
            <a:off x="3022600" y="2108200"/>
            <a:ext cx="7874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不动脑子（simple）直接返回 HTTP 400：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「The supported API model names are deepseek-flash, deepseek-v4-pro, but you passed chat」</a:t>
            </a:r>
            <a:endParaRPr lang="en-US" sz="1400" dirty="0"/>
          </a:p>
        </p:txBody>
      </p:sp>
      <p:sp>
        <p:nvSpPr>
          <p:cNvPr id="9" name="s2"/>
          <p:cNvSpPr/>
          <p:nvPr/>
        </p:nvSpPr>
        <p:spPr>
          <a:xfrm>
            <a:off x="3022600" y="3200400"/>
            <a:ext cx="787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原因</a:t>
            </a:r>
            <a:endParaRPr lang="en-US" sz="1200" dirty="0"/>
          </a:p>
        </p:txBody>
      </p:sp>
      <p:sp>
        <p:nvSpPr>
          <p:cNvPr id="10" name="s2t"/>
          <p:cNvSpPr/>
          <p:nvPr/>
        </p:nvSpPr>
        <p:spPr>
          <a:xfrm>
            <a:off x="3022600" y="3479800"/>
            <a:ext cx="7874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模型名叫 chat 之类通用别名，或写成了转写、英文名。服务商只认后台列出的模型 ID。</a:t>
            </a:r>
            <a:endParaRPr lang="en-US" sz="1400" dirty="0"/>
          </a:p>
        </p:txBody>
      </p:sp>
      <p:sp>
        <p:nvSpPr>
          <p:cNvPr id="11" name="s3"/>
          <p:cNvSpPr/>
          <p:nvPr/>
        </p:nvSpPr>
        <p:spPr>
          <a:xfrm>
            <a:off x="3022600" y="4318000"/>
            <a:ext cx="787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</a:t>
            </a:r>
            <a:endParaRPr lang="en-US" sz="1200" dirty="0"/>
          </a:p>
        </p:txBody>
      </p:sp>
      <p:sp>
        <p:nvSpPr>
          <p:cNvPr id="12" name="s3t"/>
          <p:cNvSpPr/>
          <p:nvPr/>
        </p:nvSpPr>
        <p:spPr>
          <a:xfrm>
            <a:off x="3022600" y="4597400"/>
            <a:ext cx="7874000" cy="838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模型名改成 deepseek-chat（或你服务商列的 ID），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地址与钥匙同时填好再保存，然后重说一句。</a:t>
            </a:r>
            <a:endParaRPr lang="en-US" sz="1400" dirty="0"/>
          </a:p>
        </p:txBody>
      </p:sp>
      <p:sp>
        <p:nvSpPr>
          <p:cNvPr id="13" name="verdict"/>
          <p:cNvSpPr/>
          <p:nvPr/>
        </p:nvSpPr>
        <p:spPr>
          <a:xfrm>
            <a:off x="609600" y="6299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14" name="verdicttext"/>
          <p:cNvSpPr/>
          <p:nvPr/>
        </p:nvSpPr>
        <p:spPr>
          <a:xfrm>
            <a:off x="609600" y="6400800"/>
            <a:ext cx="9652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报错里写着 passed chat，说明请求发出去了、卡在模型名，不是网络问题。</a:t>
            </a:r>
            <a:endParaRPr lang="en-US" sz="1200" dirty="0"/>
          </a:p>
        </p:txBody>
      </p:sp>
      <p:sp>
        <p:nvSpPr>
          <p:cNvPr id="15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排障 ② 语音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90600"/>
            <a:ext cx="8890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名字解析了，却连不上</a:t>
            </a:r>
            <a:endParaRPr lang="en-US" sz="3700" dirty="0"/>
          </a:p>
        </p:txBody>
      </p:sp>
      <p:pic>
        <p:nvPicPr>
          <p:cNvPr id="5" name="shot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1879600"/>
            <a:ext cx="1905000" cy="4140200"/>
          </a:xfrm>
          <a:prstGeom prst="rect">
            <a:avLst/>
          </a:prstGeom>
        </p:spPr>
      </p:pic>
      <p:sp>
        <p:nvSpPr>
          <p:cNvPr id="6" name="cap"/>
          <p:cNvSpPr/>
          <p:nvPr/>
        </p:nvSpPr>
        <p:spPr>
          <a:xfrm>
            <a:off x="609600" y="60960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050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语音连不上？自己先看</a:t>
            </a:r>
            <a:endParaRPr lang="en-US" sz="1000" dirty="0"/>
          </a:p>
        </p:txBody>
      </p:sp>
      <p:sp>
        <p:nvSpPr>
          <p:cNvPr id="7" name="big"/>
          <p:cNvSpPr/>
          <p:nvPr/>
        </p:nvSpPr>
        <p:spPr>
          <a:xfrm>
            <a:off x="3022600" y="1828800"/>
            <a:ext cx="2667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0" b="1" dirty="0">
                <a:solidFill>
                  <a:srgbClr val="E85D2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443</a:t>
            </a:r>
            <a:endParaRPr lang="en-US" sz="8400" dirty="0"/>
          </a:p>
        </p:txBody>
      </p:sp>
      <p:sp>
        <p:nvSpPr>
          <p:cNvPr id="8" name="bigcap"/>
          <p:cNvSpPr/>
          <p:nvPr/>
        </p:nvSpPr>
        <p:spPr>
          <a:xfrm>
            <a:off x="3022600" y="3276600"/>
            <a:ext cx="2667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端口没开，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握手无从谈起</a:t>
            </a:r>
            <a:endParaRPr lang="en-US" sz="1600" dirty="0"/>
          </a:p>
        </p:txBody>
      </p:sp>
      <p:sp>
        <p:nvSpPr>
          <p:cNvPr id="9" name="steps"/>
          <p:cNvSpPr/>
          <p:nvPr/>
        </p:nvSpPr>
        <p:spPr>
          <a:xfrm>
            <a:off x="6070600" y="1879600"/>
            <a:ext cx="4826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DNS 通了：api.fish.audio 解析到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203.111.254.117，2 ms。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TCP 卡死：连 443 端口等满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1500 ms 仍失败。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TLS 因此没开始。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判定：代理规则把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api.fish.audio 漏掉了。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挂上梯子，让这条域名走代理，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再点「查 Fish 那条」复测。</a:t>
            </a:r>
            <a:endParaRPr lang="en-US" sz="1400" dirty="0"/>
          </a:p>
        </p:txBody>
      </p:sp>
      <p:sp>
        <p:nvSpPr>
          <p:cNvPr id="10" name="verdict"/>
          <p:cNvSpPr/>
          <p:nvPr/>
        </p:nvSpPr>
        <p:spPr>
          <a:xfrm>
            <a:off x="609600" y="62484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11" name="verdicttext"/>
          <p:cNvSpPr/>
          <p:nvPr/>
        </p:nvSpPr>
        <p:spPr>
          <a:xfrm>
            <a:off x="609600" y="6350000"/>
            <a:ext cx="990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DNS 通、443 不通，是代理漏了域名，不是钥匙错，也不是音色错。</a:t>
            </a:r>
            <a:endParaRPr lang="en-US" sz="1200" dirty="0"/>
          </a:p>
        </p:txBody>
      </p:sp>
      <p:sp>
        <p:nvSpPr>
          <p:cNvPr id="12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排障 ③ 断网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90600"/>
            <a:ext cx="8890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现在没网，说不了话</a:t>
            </a:r>
            <a:endParaRPr lang="en-US" sz="3700" dirty="0"/>
          </a:p>
        </p:txBody>
      </p:sp>
      <p:pic>
        <p:nvPicPr>
          <p:cNvPr id="5" name="shot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1625600"/>
            <a:ext cx="1905000" cy="4140200"/>
          </a:xfrm>
          <a:prstGeom prst="rect">
            <a:avLst/>
          </a:prstGeom>
        </p:spPr>
      </p:pic>
      <p:sp>
        <p:nvSpPr>
          <p:cNvPr id="6" name="cap"/>
          <p:cNvSpPr/>
          <p:nvPr/>
        </p:nvSpPr>
        <p:spPr>
          <a:xfrm>
            <a:off x="609600" y="58420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050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现场页：offline</a:t>
            </a:r>
            <a:endParaRPr lang="en-US" sz="1000" dirty="0"/>
          </a:p>
        </p:txBody>
      </p:sp>
      <p:sp>
        <p:nvSpPr>
          <p:cNvPr id="7" name="c1"/>
          <p:cNvSpPr/>
          <p:nvPr/>
        </p:nvSpPr>
        <p:spPr>
          <a:xfrm>
            <a:off x="3022600" y="15748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现象</a:t>
            </a:r>
            <a:endParaRPr lang="en-US" sz="1300" dirty="0"/>
          </a:p>
        </p:txBody>
      </p:sp>
      <p:sp>
        <p:nvSpPr>
          <p:cNvPr id="8" name="c1t"/>
          <p:cNvSpPr/>
          <p:nvPr/>
        </p:nvSpPr>
        <p:spPr>
          <a:xfrm>
            <a:off x="3022600" y="1905000"/>
            <a:ext cx="7874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气泡只说「现在没网，说不了话」，本地脑子这一轮没成（offline），0.1 秒就返回了。</a:t>
            </a:r>
            <a:endParaRPr lang="en-US" sz="1400" dirty="0"/>
          </a:p>
        </p:txBody>
      </p:sp>
      <p:sp>
        <p:nvSpPr>
          <p:cNvPr id="9" name="c2"/>
          <p:cNvSpPr/>
          <p:nvPr/>
        </p:nvSpPr>
        <p:spPr>
          <a:xfrm>
            <a:off x="3022600" y="26162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原因</a:t>
            </a:r>
            <a:endParaRPr lang="en-US" sz="1300" dirty="0"/>
          </a:p>
        </p:txBody>
      </p:sp>
      <p:sp>
        <p:nvSpPr>
          <p:cNvPr id="10" name="c2t"/>
          <p:cNvSpPr/>
          <p:nvPr/>
        </p:nvSpPr>
        <p:spPr>
          <a:xfrm>
            <a:off x="3022600" y="2946400"/>
            <a:ext cx="7874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请求根本没发出去，手机侧网络断了或代理没生效。0.1 秒的耗时本身就说明它在本地就放弃了。</a:t>
            </a:r>
            <a:endParaRPr lang="en-US" sz="1400" dirty="0"/>
          </a:p>
        </p:txBody>
      </p:sp>
      <p:sp>
        <p:nvSpPr>
          <p:cNvPr id="11" name="c3"/>
          <p:cNvSpPr/>
          <p:nvPr/>
        </p:nvSpPr>
        <p:spPr>
          <a:xfrm>
            <a:off x="3022600" y="36576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修复</a:t>
            </a:r>
            <a:endParaRPr lang="en-US" sz="1300" dirty="0"/>
          </a:p>
        </p:txBody>
      </p:sp>
      <p:sp>
        <p:nvSpPr>
          <p:cNvPr id="12" name="c3t"/>
          <p:cNvSpPr/>
          <p:nvPr/>
        </p:nvSpPr>
        <p:spPr>
          <a:xfrm>
            <a:off x="3022600" y="3987800"/>
            <a:ext cx="7874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先确认梯子开着、且这台手机在走它；再检查设置页地址栏有没有混进中文标点，尤其是句号。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改完保存，重新说一句。</a:t>
            </a:r>
            <a:endParaRPr lang="en-US" sz="1400" dirty="0"/>
          </a:p>
        </p:txBody>
      </p:sp>
      <p:sp>
        <p:nvSpPr>
          <p:cNvPr id="13" name="extra"/>
          <p:cNvSpPr/>
          <p:nvPr/>
        </p:nvSpPr>
        <p:spPr>
          <a:xfrm>
            <a:off x="3022600" y="5054600"/>
            <a:ext cx="7874000" cy="939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同一张现场页上还记着「渲染停了 261193 ms（页面不可见）」——切到后台太久会被挂起，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回来时先等它恢复，再发消息。</a:t>
            </a:r>
            <a:endParaRPr lang="en-US" sz="1300" dirty="0"/>
          </a:p>
        </p:txBody>
      </p:sp>
      <p:sp>
        <p:nvSpPr>
          <p:cNvPr id="14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其它常见问题 · 速查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9398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照这个查，大多数能自己解决</a:t>
            </a:r>
            <a:endParaRPr lang="en-US" sz="3200" dirty="0"/>
          </a:p>
        </p:txBody>
      </p:sp>
      <p:sp>
        <p:nvSpPr>
          <p:cNvPr id="5" name="col1line"/>
          <p:cNvSpPr/>
          <p:nvPr/>
        </p:nvSpPr>
        <p:spPr>
          <a:xfrm>
            <a:off x="6070600" y="1879600"/>
            <a:ext cx="12700" cy="44196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6" name="q1"/>
          <p:cNvSpPr/>
          <p:nvPr/>
        </p:nvSpPr>
        <p:spPr>
          <a:xfrm>
            <a:off x="609600" y="1879600"/>
            <a:ext cx="5232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启动动画后闪退回桌面</a:t>
            </a:r>
            <a:endParaRPr lang="en-US" sz="1300" dirty="0"/>
          </a:p>
        </p:txBody>
      </p:sp>
      <p:sp>
        <p:nvSpPr>
          <p:cNvPr id="7" name="a1"/>
          <p:cNvSpPr/>
          <p:nvPr/>
        </p:nvSpPr>
        <p:spPr>
          <a:xfrm>
            <a:off x="609600" y="21844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解模型被打断或内存不够。清后台再开，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还不行就清除数据重来。</a:t>
            </a:r>
            <a:endParaRPr lang="en-US" sz="1200" dirty="0"/>
          </a:p>
        </p:txBody>
      </p:sp>
      <p:sp>
        <p:nvSpPr>
          <p:cNvPr id="8" name="q2"/>
          <p:cNvSpPr/>
          <p:nvPr/>
        </p:nvSpPr>
        <p:spPr>
          <a:xfrm>
            <a:off x="609600" y="2819400"/>
            <a:ext cx="5232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「钥匙被拒了（401）」</a:t>
            </a:r>
            <a:endParaRPr lang="en-US" sz="1300" dirty="0"/>
          </a:p>
        </p:txBody>
      </p:sp>
      <p:sp>
        <p:nvSpPr>
          <p:cNvPr id="9" name="a2"/>
          <p:cNvSpPr/>
          <p:nvPr/>
        </p:nvSpPr>
        <p:spPr>
          <a:xfrm>
            <a:off x="609600" y="31242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钥匙无效或没复制全。重新复制整串，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注意别带多余空格，填完点保存。</a:t>
            </a:r>
            <a:endParaRPr lang="en-US" sz="1200" dirty="0"/>
          </a:p>
        </p:txBody>
      </p:sp>
      <p:sp>
        <p:nvSpPr>
          <p:cNvPr id="10" name="q3"/>
          <p:cNvSpPr/>
          <p:nvPr/>
        </p:nvSpPr>
        <p:spPr>
          <a:xfrm>
            <a:off x="609600" y="3759200"/>
            <a:ext cx="5232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她没有声音</a:t>
            </a:r>
            <a:endParaRPr lang="en-US" sz="1300" dirty="0"/>
          </a:p>
        </p:txBody>
      </p:sp>
      <p:sp>
        <p:nvSpPr>
          <p:cNvPr id="11" name="a3"/>
          <p:cNvSpPr/>
          <p:nvPr/>
        </p:nvSpPr>
        <p:spPr>
          <a:xfrm>
            <a:off x="609600" y="40640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语音钥匙没填。去设置 →「语音的钥匙」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填好保存，状态行会显示结果。</a:t>
            </a:r>
            <a:endParaRPr lang="en-US" sz="1200" dirty="0"/>
          </a:p>
        </p:txBody>
      </p:sp>
      <p:sp>
        <p:nvSpPr>
          <p:cNvPr id="12" name="q4"/>
          <p:cNvSpPr/>
          <p:nvPr/>
        </p:nvSpPr>
        <p:spPr>
          <a:xfrm>
            <a:off x="609600" y="4699000"/>
            <a:ext cx="5232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麦克风、摄像头点不开</a:t>
            </a:r>
            <a:endParaRPr lang="en-US" sz="1300" dirty="0"/>
          </a:p>
        </p:txBody>
      </p:sp>
      <p:sp>
        <p:nvSpPr>
          <p:cNvPr id="13" name="a4"/>
          <p:cNvSpPr/>
          <p:nvPr/>
        </p:nvSpPr>
        <p:spPr>
          <a:xfrm>
            <a:off x="609600" y="50038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手机设置 → 应用 → Amadeus → 权限，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把麦克风、相机打开。</a:t>
            </a:r>
            <a:endParaRPr lang="en-US" sz="1200" dirty="0"/>
          </a:p>
        </p:txBody>
      </p:sp>
      <p:sp>
        <p:nvSpPr>
          <p:cNvPr id="14" name="q5"/>
          <p:cNvSpPr/>
          <p:nvPr/>
        </p:nvSpPr>
        <p:spPr>
          <a:xfrm>
            <a:off x="609600" y="5638800"/>
            <a:ext cx="5232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手机发烫、动画卡</a:t>
            </a:r>
            <a:endParaRPr lang="en-US" sz="1300" dirty="0"/>
          </a:p>
        </p:txBody>
      </p:sp>
      <p:sp>
        <p:nvSpPr>
          <p:cNvPr id="15" name="a5"/>
          <p:cNvSpPr/>
          <p:nvPr/>
        </p:nvSpPr>
        <p:spPr>
          <a:xfrm>
            <a:off x="609600" y="59436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设置 →「画面档位」→ 省电。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省电档会自动关掉陀螺仪视角。</a:t>
            </a:r>
            <a:endParaRPr lang="en-US" sz="1200" dirty="0"/>
          </a:p>
        </p:txBody>
      </p:sp>
      <p:sp>
        <p:nvSpPr>
          <p:cNvPr id="16" name="q6"/>
          <p:cNvSpPr/>
          <p:nvPr/>
        </p:nvSpPr>
        <p:spPr>
          <a:xfrm>
            <a:off x="6451600" y="1879600"/>
            <a:ext cx="4978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她老是不理我</a:t>
            </a:r>
            <a:endParaRPr lang="en-US" sz="1300" dirty="0"/>
          </a:p>
        </p:txBody>
      </p:sp>
      <p:sp>
        <p:nvSpPr>
          <p:cNvPr id="17" name="a6"/>
          <p:cNvSpPr/>
          <p:nvPr/>
        </p:nvSpPr>
        <p:spPr>
          <a:xfrm>
            <a:off x="6451600" y="21844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看「勿扰模式」和「睡眠时段」——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开着的话她不会主动开口。</a:t>
            </a:r>
            <a:endParaRPr lang="en-US" sz="1200" dirty="0"/>
          </a:p>
        </p:txBody>
      </p:sp>
      <p:sp>
        <p:nvSpPr>
          <p:cNvPr id="18" name="q7"/>
          <p:cNvSpPr/>
          <p:nvPr/>
        </p:nvSpPr>
        <p:spPr>
          <a:xfrm>
            <a:off x="6451600" y="2819400"/>
            <a:ext cx="4978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想更新版本，一定要数据线吗</a:t>
            </a:r>
            <a:endParaRPr lang="en-US" sz="1300" dirty="0"/>
          </a:p>
        </p:txBody>
      </p:sp>
      <p:sp>
        <p:nvSpPr>
          <p:cNvPr id="19" name="a7"/>
          <p:cNvSpPr/>
          <p:nvPr/>
        </p:nvSpPr>
        <p:spPr>
          <a:xfrm>
            <a:off x="6451600" y="31242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不用。设置 →「更新我自己」，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按提示换掉 App 就行。</a:t>
            </a:r>
            <a:endParaRPr lang="en-US" sz="1200" dirty="0"/>
          </a:p>
        </p:txBody>
      </p:sp>
      <p:sp>
        <p:nvSpPr>
          <p:cNvPr id="20" name="q8"/>
          <p:cNvSpPr/>
          <p:nvPr/>
        </p:nvSpPr>
        <p:spPr>
          <a:xfrm>
            <a:off x="6451600" y="3759200"/>
            <a:ext cx="4978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包为什么这么大</a:t>
            </a:r>
            <a:endParaRPr lang="en-US" sz="1300" dirty="0"/>
          </a:p>
        </p:txBody>
      </p:sp>
      <p:sp>
        <p:nvSpPr>
          <p:cNvPr id="21" name="a8"/>
          <p:cNvSpPr/>
          <p:nvPr/>
        </p:nvSpPr>
        <p:spPr>
          <a:xfrm>
            <a:off x="6451600" y="40640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本机语音、情绪、检索模型和立绘都在包里，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不是缓存。</a:t>
            </a:r>
            <a:endParaRPr lang="en-US" sz="1200" dirty="0"/>
          </a:p>
        </p:txBody>
      </p:sp>
      <p:sp>
        <p:nvSpPr>
          <p:cNvPr id="22" name="q9"/>
          <p:cNvSpPr/>
          <p:nvPr/>
        </p:nvSpPr>
        <p:spPr>
          <a:xfrm>
            <a:off x="6451600" y="4699000"/>
            <a:ext cx="4978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提示「签名不一致」</a:t>
            </a:r>
            <a:endParaRPr lang="en-US" sz="1300" dirty="0"/>
          </a:p>
        </p:txBody>
      </p:sp>
      <p:sp>
        <p:nvSpPr>
          <p:cNvPr id="23" name="a9"/>
          <p:cNvSpPr/>
          <p:nvPr/>
        </p:nvSpPr>
        <p:spPr>
          <a:xfrm>
            <a:off x="6451600" y="50038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手机里还装着别的来源的旧版，先卸载旧的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再装。卸载会清空旧聊天记录。</a:t>
            </a:r>
            <a:endParaRPr lang="en-US" sz="1200" dirty="0"/>
          </a:p>
        </p:txBody>
      </p:sp>
      <p:sp>
        <p:nvSpPr>
          <p:cNvPr id="24" name="q10"/>
          <p:cNvSpPr/>
          <p:nvPr/>
        </p:nvSpPr>
        <p:spPr>
          <a:xfrm>
            <a:off x="6451600" y="5638800"/>
            <a:ext cx="4978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卡住了、描述不清</a:t>
            </a:r>
            <a:endParaRPr lang="en-US" sz="1300" dirty="0"/>
          </a:p>
        </p:txBody>
      </p:sp>
      <p:sp>
        <p:nvSpPr>
          <p:cNvPr id="25" name="a10"/>
          <p:cNvSpPr/>
          <p:nvPr/>
        </p:nvSpPr>
        <p:spPr>
          <a:xfrm>
            <a:off x="6451600" y="59436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看「设置 → 崩溃与脚本错误」里的原文，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复制发出来比描述有用。</a:t>
            </a:r>
            <a:endParaRPr lang="en-US" sz="1200" dirty="0"/>
          </a:p>
        </p:txBody>
      </p:sp>
      <p:sp>
        <p:nvSpPr>
          <p:cNvPr id="26" name="pageno"/>
          <p:cNvSpPr/>
          <p:nvPr/>
        </p:nvSpPr>
        <p:spPr>
          <a:xfrm>
            <a:off x="11049000" y="6400800"/>
            <a:ext cx="5334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ECE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9600" y="330200"/>
            <a:ext cx="10414000" cy="2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就这样</a:t>
            </a:r>
            <a:endParaRPr lang="en-US" sz="1100" dirty="0"/>
          </a:p>
        </p:txBody>
      </p:sp>
      <p:sp>
        <p:nvSpPr>
          <p:cNvPr id="3" name="rule"/>
          <p:cNvSpPr/>
          <p:nvPr/>
        </p:nvSpPr>
        <p:spPr>
          <a:xfrm>
            <a:off x="609600" y="711200"/>
            <a:ext cx="10414000" cy="12700"/>
          </a:xfrm>
          <a:prstGeom prst="rect">
            <a:avLst/>
          </a:prstGeom>
          <a:solidFill>
            <a:srgbClr val="282826"/>
          </a:solidFill>
          <a:ln w="12700">
            <a:solidFill>
              <a:srgbClr val="282826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09600" y="1219200"/>
            <a:ext cx="10972800" cy="965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0EC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先去填两把钥匙</a:t>
            </a:r>
            <a:endParaRPr lang="en-US" sz="5800" dirty="0"/>
          </a:p>
        </p:txBody>
      </p:sp>
      <p:sp>
        <p:nvSpPr>
          <p:cNvPr id="5" name="lead"/>
          <p:cNvSpPr/>
          <p:nvPr/>
        </p:nvSpPr>
        <p:spPr>
          <a:xfrm>
            <a:off x="609600" y="2362200"/>
            <a:ext cx="10972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大模型钥匙决定她能不能说话，语音钥匙决定她有没有声音。这两步过了，剩下的都在设置里。</a:t>
            </a:r>
            <a:endParaRPr lang="en-US" sz="1700" dirty="0"/>
          </a:p>
        </p:txBody>
      </p:sp>
      <p:sp>
        <p:nvSpPr>
          <p:cNvPr id="6" name="b1"/>
          <p:cNvSpPr/>
          <p:nvPr/>
        </p:nvSpPr>
        <p:spPr>
          <a:xfrm>
            <a:off x="609600" y="3276600"/>
            <a:ext cx="12700" cy="127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note1"/>
          <p:cNvSpPr/>
          <p:nvPr/>
        </p:nvSpPr>
        <p:spPr>
          <a:xfrm>
            <a:off x="609600" y="3276600"/>
            <a:ext cx="51054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这一版还是半成品</a:t>
            </a:r>
            <a:endParaRPr lang="en-US" sz="1300" dirty="0"/>
          </a:p>
        </p:txBody>
      </p:sp>
      <p:sp>
        <p:nvSpPr>
          <p:cNvPr id="8" name="note1t"/>
          <p:cNvSpPr/>
          <p:nvPr/>
        </p:nvSpPr>
        <p:spPr>
          <a:xfrm>
            <a:off x="609600" y="3606800"/>
            <a:ext cx="5105400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界面粗糙、个别功能不好使都是可能的。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卡住了先看「设置 → 崩溃与脚本错误」，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把原文发出来，比描述有用。</a:t>
            </a:r>
            <a:endParaRPr lang="en-US" sz="1300" dirty="0"/>
          </a:p>
        </p:txBody>
      </p:sp>
      <p:sp>
        <p:nvSpPr>
          <p:cNvPr id="9" name="note2"/>
          <p:cNvSpPr/>
          <p:nvPr/>
        </p:nvSpPr>
        <p:spPr>
          <a:xfrm>
            <a:off x="6451600" y="32766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有问题回群里问</a:t>
            </a:r>
            <a:endParaRPr lang="en-US" sz="1300" dirty="0"/>
          </a:p>
        </p:txBody>
      </p:sp>
      <p:sp>
        <p:nvSpPr>
          <p:cNvPr id="10" name="note2t"/>
          <p:cNvSpPr/>
          <p:nvPr/>
        </p:nvSpPr>
        <p:spPr>
          <a:xfrm>
            <a:off x="6451600" y="3606800"/>
            <a:ext cx="4978400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交流群 QQ 1130679223。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安装包在群文件，作者在 B 站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88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「道明寺可可亚official」。</a:t>
            </a:r>
            <a:endParaRPr lang="en-US" sz="1300" dirty="0"/>
          </a:p>
        </p:txBody>
      </p:sp>
      <p:sp>
        <p:nvSpPr>
          <p:cNvPr id="11" name="foot"/>
          <p:cNvSpPr/>
          <p:nvPr/>
        </p:nvSpPr>
        <p:spPr>
          <a:xfrm>
            <a:off x="609600" y="6146800"/>
            <a:ext cx="9906000" cy="279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050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Amadeus 手机端 v9.0.377 · 真机实测整理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,&quot;left&quot;:48,&quot;top&quot;:150,&quot;width&quot;:540}"/>
</p:tagLst>
</file>

<file path=ppt/tags/tag2.xml><?xml version="1.0" encoding="utf-8"?>
<p:tagLst xmlns:p="http://schemas.openxmlformats.org/presentationml/2006/main">
  <p:tag name="KSO_WM_DIAGRAM_VIRTUALLY_FRAME" val="{&quot;height&quot;:240,&quot;left&quot;:48,&quot;top&quot;:150,&quot;width&quot;:540}"/>
</p:tagLst>
</file>

<file path=ppt/tags/tag3.xml><?xml version="1.0" encoding="utf-8"?>
<p:tagLst xmlns:p="http://schemas.openxmlformats.org/presentationml/2006/main">
  <p:tag name="KSO_WM_DIAGRAM_VIRTUALLY_FRAME" val="{&quot;height&quot;:240,&quot;left&quot;:48,&quot;top&quot;:150,&quot;width&quot;:540}"/>
</p:tagLst>
</file>

<file path=ppt/tags/tag4.xml><?xml version="1.0" encoding="utf-8"?>
<p:tagLst xmlns:p="http://schemas.openxmlformats.org/presentationml/2006/main">
  <p:tag name="KSO_WM_DIAGRAM_VIRTUALLY_FRAME" val="{&quot;height&quot;:240,&quot;left&quot;:48,&quot;top&quot;:150,&quot;width&quot;:540}"/>
</p:tagLst>
</file>

<file path=ppt/tags/tag5.xml><?xml version="1.0" encoding="utf-8"?>
<p:tagLst xmlns:p="http://schemas.openxmlformats.org/presentationml/2006/main">
  <p:tag name="KSO_WM_DIAGRAM_VIRTUALLY_FRAME" val="{&quot;height&quot;:240,&quot;left&quot;:48,&quot;top&quot;:150,&quot;width&quot;:540}"/>
</p:tagLst>
</file>

<file path=ppt/tags/tag6.xml><?xml version="1.0" encoding="utf-8"?>
<p:tagLst xmlns:p="http://schemas.openxmlformats.org/presentationml/2006/main">
  <p:tag name="KSO_WM_DIAGRAM_VIRTUALLY_FRAME" val="{&quot;height&quot;:240,&quot;left&quot;:48,&quot;top&quot;:150,&quot;width&quot;:540}"/>
</p:tagLst>
</file>

<file path=ppt/tags/tag7.xml><?xml version="1.0" encoding="utf-8"?>
<p:tagLst xmlns:p="http://schemas.openxmlformats.org/presentationml/2006/main">
  <p:tag name="KSO_WM_DIAGRAM_VIRTUALLY_FRAME" val="{&quot;height&quot;:240,&quot;left&quot;:48,&quot;top&quot;:150,&quot;width&quot;:540}"/>
</p:tagLst>
</file>

<file path=ppt/tags/tag8.xml><?xml version="1.0" encoding="utf-8"?>
<p:tagLst xmlns:p="http://schemas.openxmlformats.org/presentationml/2006/main">
  <p:tag name="KSO_WM_DIAGRAM_VIRTUALLY_FRAME" val="{&quot;height&quot;:240,&quot;left&quot;:48,&quot;top&quot;:150,&quot;width&quot;:540}"/>
</p:tagLst>
</file>

<file path=ppt/tags/tag9.xml><?xml version="1.0" encoding="utf-8"?>
<p:tagLst xmlns:p="http://schemas.openxmlformats.org/presentationml/2006/main">
  <p:tag name="KSO_WM_DIAGRAM_VIRTUALLY_FRAME" val="{&quot;height&quot;:240,&quot;left&quot;:48,&quot;top&quot;:150,&quot;width&quot;:54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3801</Words>
  <Application>WPS 演示</Application>
  <PresentationFormat>On-screen Show (16:9)</PresentationFormat>
  <Paragraphs>453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Arial Black</vt:lpstr>
      <vt:lpstr>Arial Black</vt:lpstr>
      <vt:lpstr>Arial Black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DeepSeek Harness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手机版使用说明</dc:title>
  <dc:creator>DSH PPTD</dc:creator>
  <dc:subject>Local PPTD v2 editable rendering</dc:subject>
  <cp:lastModifiedBy>xlw</cp:lastModifiedBy>
  <cp:revision>3</cp:revision>
  <dcterms:created xsi:type="dcterms:W3CDTF">2026-10-24T08:15:00Z</dcterms:created>
  <dcterms:modified xsi:type="dcterms:W3CDTF">2026-10-24T09:57:00Z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009DFEC2991A4DAFADEC722A5B67E8F8_12</vt:lpwstr>
  </property>
  <property fmtid="{D5CDD505-2E9C-101B-9397-08002B2CF9AE}" pid="3" name="KSOProductBuildVer">
    <vt:lpwstr>2052-12.1.0.29161</vt:lpwstr>
  </property>
</Properties>
</file>